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0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945" y="0"/>
            <a:ext cx="333375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65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GenGreen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1276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Gamified Environmental Education Platform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91508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4Bugs — Sustainability Track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Tagline: Turning environmental awareness into real-world sustainable action.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B1"/>
          <p:cNvSpPr/>
          <p:nvPr/>
        </p:nvSpPr>
        <p:spPr>
          <a:xfrm>
            <a:off x="9393771" y="1550368"/>
            <a:ext cx="2547924" cy="1129482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01" name="Text B1"/>
          <p:cNvSpPr/>
          <p:nvPr/>
        </p:nvSpPr>
        <p:spPr>
          <a:xfrm>
            <a:off x="9563771" y="1690368"/>
            <a:ext cx="2207924" cy="84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Textbook-Driven Learning</a:t>
            </a:r>
            <a:endParaRPr lang="en-US" sz="1600" dirty="0"/>
          </a:p>
        </p:txBody>
      </p:sp>
      <p:sp>
        <p:nvSpPr>
          <p:cNvPr id="902" name="Arrow Down"/>
          <p:cNvSpPr/>
          <p:nvPr/>
        </p:nvSpPr>
        <p:spPr>
          <a:xfrm>
            <a:off x="10357728" y="2884850"/>
            <a:ext cx="360000" cy="5000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9698C7"/>
          </a:solidFill>
          <a:ln>
            <a:noFill/>
          </a:ln>
        </p:spPr>
      </p:sp>
      <p:sp>
        <p:nvSpPr>
          <p:cNvPr id="903" name="Shape B2"/>
          <p:cNvSpPr/>
          <p:nvPr/>
        </p:nvSpPr>
        <p:spPr>
          <a:xfrm>
            <a:off x="9393771" y="3600000"/>
            <a:ext cx="2547924" cy="1550000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04" name="Text B2"/>
          <p:cNvSpPr/>
          <p:nvPr/>
        </p:nvSpPr>
        <p:spPr>
          <a:xfrm>
            <a:off x="9563771" y="3740000"/>
            <a:ext cx="2207924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Engagement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kern="0" spc="-30" dirty="0">
                <a:solidFill>
                  <a:srgbClr val="4546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 understanding</a:t>
            </a:r>
            <a:endParaRPr lang="en-US" sz="1300" dirty="0"/>
          </a:p>
        </p:txBody>
      </p:sp>
      <p:sp>
        <p:nvSpPr>
          <p:cNvPr id="3" name="Text 0"/>
          <p:cNvSpPr/>
          <p:nvPr/>
        </p:nvSpPr>
        <p:spPr>
          <a:xfrm>
            <a:off x="661475" y="1084461"/>
            <a:ext cx="782082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— Theory without practice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58578"/>
            <a:ext cx="78208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learning in many Indian schools remains textbook-driven and theoretical. NEP 2020 calls for experiential, competency-based learning, but the classroom-to-community gap persists.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078460"/>
            <a:ext cx="3815858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3273822"/>
            <a:ext cx="34251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state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682504"/>
            <a:ext cx="342514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Textbook learning → low engagement → passive understanding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66340" y="3078460"/>
            <a:ext cx="381595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61696" y="3273822"/>
            <a:ext cx="34252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Consequence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61696" y="3682504"/>
            <a:ext cx="34252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habit formation: waste disposal, water use, biodiversity care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671715"/>
            <a:ext cx="7820822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867077"/>
            <a:ext cx="74301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275759"/>
            <a:ext cx="74301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 2020 alignment: Use technology &amp; missions to make learning active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47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 — The GenGreen Loop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84" y="1619151"/>
            <a:ext cx="10390027" cy="4073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442" y="1818915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 &amp; Practice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39949" y="1818915"/>
            <a:ext cx="1902016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Mission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39949" y="5186927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Verify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9442" y="5186927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Earn &amp; Compete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56682" y="590510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closed learning loop that converts concepts into verified real-world action and measurable outcomes.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818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Experience — Roles &amp; Dashboards</a:t>
            </a:r>
            <a:endParaRPr lang="en-US" sz="3350" dirty="0"/>
          </a:p>
        </p:txBody>
      </p:sp>
      <p:sp>
        <p:nvSpPr>
          <p:cNvPr id="950" name="Icon Circle 1"/>
          <p:cNvSpPr/>
          <p:nvPr/>
        </p:nvSpPr>
        <p:spPr>
          <a:xfrm>
            <a:off x="914815" y="1739876"/>
            <a:ext cx="2800000" cy="2800000"/>
          </a:xfrm>
          <a:prstGeom prst="ellipse">
            <a:avLst/>
          </a:prstGeom>
          <a:solidFill>
            <a:srgbClr val="97BC62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951" name="Icon Letter 1"/>
          <p:cNvSpPr/>
          <p:nvPr/>
        </p:nvSpPr>
        <p:spPr>
          <a:xfrm>
            <a:off x="914815" y="1739876"/>
            <a:ext cx="28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</a:t>
            </a:r>
          </a:p>
        </p:txBody>
      </p:sp>
      <p:sp>
        <p:nvSpPr>
          <p:cNvPr id="4" name="Text 1"/>
          <p:cNvSpPr/>
          <p:nvPr/>
        </p:nvSpPr>
        <p:spPr>
          <a:xfrm>
            <a:off x="661475" y="4967883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5390654"/>
            <a:ext cx="330668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modules • Quizzes &amp; Eco Crossword • AI Eco Mentor • Missions • Badges &amp; Leaderboard</a:t>
            </a:r>
            <a:endParaRPr lang="en-US" sz="1300" dirty="0"/>
          </a:p>
        </p:txBody>
      </p:sp>
      <p:sp>
        <p:nvSpPr>
          <p:cNvPr id="952" name="Icon Circle 2"/>
          <p:cNvSpPr/>
          <p:nvPr/>
        </p:nvSpPr>
        <p:spPr>
          <a:xfrm>
            <a:off x="4645743" y="1739876"/>
            <a:ext cx="2800000" cy="2800000"/>
          </a:xfrm>
          <a:prstGeom prst="ellipse">
            <a:avLst/>
          </a:prstGeom>
          <a:solidFill>
            <a:srgbClr val="97BC62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953" name="Icon Letter 2"/>
          <p:cNvSpPr/>
          <p:nvPr/>
        </p:nvSpPr>
        <p:spPr>
          <a:xfrm>
            <a:off x="4645743" y="1739876"/>
            <a:ext cx="28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</a:t>
            </a:r>
          </a:p>
        </p:txBody>
      </p:sp>
      <p:sp>
        <p:nvSpPr>
          <p:cNvPr id="7" name="Text 3"/>
          <p:cNvSpPr/>
          <p:nvPr/>
        </p:nvSpPr>
        <p:spPr>
          <a:xfrm>
            <a:off x="4392403" y="4967883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Teacher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392403" y="5390654"/>
            <a:ext cx="330668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missions • Track progress • Verify evidence • AI-generated class insights</a:t>
            </a:r>
            <a:endParaRPr lang="en-US" sz="1300" dirty="0"/>
          </a:p>
        </p:txBody>
      </p:sp>
      <p:sp>
        <p:nvSpPr>
          <p:cNvPr id="954" name="Icon Circle 3"/>
          <p:cNvSpPr/>
          <p:nvPr/>
        </p:nvSpPr>
        <p:spPr>
          <a:xfrm>
            <a:off x="8433076" y="1796282"/>
            <a:ext cx="2800000" cy="2800000"/>
          </a:xfrm>
          <a:prstGeom prst="ellipse">
            <a:avLst/>
          </a:prstGeom>
          <a:solidFill>
            <a:srgbClr val="97BC62"/>
          </a:solidFill>
          <a:ln w="28575">
            <a:solidFill>
              <a:srgbClr val="2C5F2D"/>
            </a:solidFill>
            <a:prstDash val="solid"/>
          </a:ln>
        </p:spPr>
      </p:sp>
      <p:sp>
        <p:nvSpPr>
          <p:cNvPr id="955" name="Icon Letter 3"/>
          <p:cNvSpPr/>
          <p:nvPr/>
        </p:nvSpPr>
        <p:spPr>
          <a:xfrm>
            <a:off x="8433076" y="1796282"/>
            <a:ext cx="28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</a:t>
            </a:r>
          </a:p>
        </p:txBody>
      </p:sp>
      <p:sp>
        <p:nvSpPr>
          <p:cNvPr id="10" name="Text 5"/>
          <p:cNvSpPr/>
          <p:nvPr/>
        </p:nvSpPr>
        <p:spPr>
          <a:xfrm>
            <a:off x="8123332" y="5080695"/>
            <a:ext cx="341948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Organizer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123332" y="5503466"/>
            <a:ext cx="341948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competitions • School-level analytics • Incentivize community campaigns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4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— Built &amp; Ready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Eco Mentor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162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next-topic &amp; mission recommendations with concise reasons tied to student data.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Deterministic Verification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71621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verifies mission evidence deterministically; IBM Bob produces plain-language explanations for auditability.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112169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3075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Teacher Class Insights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71621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prioritized action lists generated by IBM Bob for targeted remediation.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Learning Tools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Scenario-based quizzes and Eco Crossword to practice application and reasoning.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31026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5056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Gamified Progress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91430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Leaderboards, badges, streaks, and a Green Score to motivate sustained participation.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49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Architecture (Prototype)</a:t>
            </a:r>
            <a:endParaRPr lang="en-US" sz="3450" dirty="0"/>
          </a:p>
        </p:txBody>
      </p:sp>
      <p:sp>
        <p:nvSpPr>
          <p:cNvPr id="200" name="Diagram Card"/>
          <p:cNvSpPr/>
          <p:nvPr/>
        </p:nvSpPr>
        <p:spPr>
          <a:xfrm>
            <a:off x="430000" y="1250000"/>
            <a:ext cx="11330000" cy="3160000"/>
          </a:xfrm>
          <a:prstGeom prst="roundRect">
            <a:avLst>
              <a:gd name="adj" fmla="val 3500"/>
            </a:avLst>
          </a:prstGeom>
          <a:solidFill>
            <a:srgbClr val="F6F8F6"/>
          </a:solidFill>
          <a:ln w="0">
            <a:noFill/>
          </a:ln>
          <a:effectLst>
            <a:outerShdw blurRad="70000" dist="18000" dir="5400000" rotWithShape="0">
              <a:srgbClr val="000000">
                <a:alpha val="8000"/>
              </a:srgbClr>
            </a:outerShdw>
          </a:effectLst>
        </p:spPr>
      </p:sp>
      <p:sp>
        <p:nvSpPr>
          <p:cNvPr id="960" name="Hub Shape"/>
          <p:cNvSpPr/>
          <p:nvPr/>
        </p:nvSpPr>
        <p:spPr>
          <a:xfrm>
            <a:off x="5095798" y="2450000"/>
            <a:ext cx="2000000" cy="9000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 w="0">
            <a:noFill/>
          </a:ln>
          <a:effectLst>
            <a:outerShdw blurRad="90000" dist="30000" dir="5400000" rotWithShape="0">
              <a:srgbClr val="2C5F2D">
                <a:alpha val="28000"/>
              </a:srgbClr>
            </a:outerShdw>
          </a:effectLst>
        </p:spPr>
      </p:sp>
      <p:sp>
        <p:nvSpPr>
          <p:cNvPr id="961" name="Hub Text"/>
          <p:cNvSpPr/>
          <p:nvPr/>
        </p:nvSpPr>
        <p:spPr>
          <a:xfrm>
            <a:off x="5095798" y="2450000"/>
            <a:ext cx="2000000" cy="90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GenGreen Platform</a:t>
            </a:r>
          </a:p>
        </p:txBody>
      </p:sp>
      <p:sp>
        <p:nvSpPr>
          <p:cNvPr id="201" name="Icon UI"/>
          <p:cNvSpPr/>
          <p:nvPr/>
        </p:nvSpPr>
        <p:spPr>
          <a:xfrm>
            <a:off x="5935798" y="1430000"/>
            <a:ext cx="320000" cy="32000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</a:t>
            </a:r>
            <a:endParaRPr lang="en-US" sz="800" dirty="0"/>
          </a:p>
        </p:txBody>
      </p:sp>
      <p:sp>
        <p:nvSpPr>
          <p:cNvPr id="202" name="Node Label"/>
          <p:cNvSpPr/>
          <p:nvPr/>
        </p:nvSpPr>
        <p:spPr>
          <a:xfrm>
            <a:off x="4695798" y="1780000"/>
            <a:ext cx="28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 &amp; Frontend</a:t>
            </a:r>
            <a:endParaRPr lang="en-US" sz="1050" dirty="0"/>
          </a:p>
        </p:txBody>
      </p:sp>
      <p:sp>
        <p:nvSpPr>
          <p:cNvPr id="203" name="Node Desc"/>
          <p:cNvSpPr/>
          <p:nvPr/>
        </p:nvSpPr>
        <p:spPr>
          <a:xfrm>
            <a:off x="4695798" y="2000000"/>
            <a:ext cx="28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kern="0" spc="-15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 UI, connected via Socket.io for real-time updates</a:t>
            </a:r>
            <a:endParaRPr lang="en-US" sz="750" dirty="0"/>
          </a:p>
        </p:txBody>
      </p:sp>
      <p:cxnSp>
        <p:nvCxnSpPr>
          <p:cNvPr id="204" name="Connector"/>
          <p:cNvCxnSpPr/>
          <p:nvPr/>
        </p:nvCxnSpPr>
        <p:spPr>
          <a:xfrm>
            <a:off x="6095798" y="2330000"/>
            <a:ext cx="0" cy="120000"/>
          </a:xfrm>
          <a:prstGeom prst="line">
            <a:avLst/>
          </a:prstGeom>
          <a:ln w="12700">
            <a:solidFill>
              <a:srgbClr val="B9C4BA"/>
            </a:solidFill>
          </a:ln>
        </p:spPr>
      </p:cxnSp>
      <p:sp>
        <p:nvSpPr>
          <p:cNvPr id="205" name="Icon API"/>
          <p:cNvSpPr/>
          <p:nvPr/>
        </p:nvSpPr>
        <p:spPr>
          <a:xfrm>
            <a:off x="4070000" y="2620000"/>
            <a:ext cx="260000" cy="26000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</a:t>
            </a:r>
            <a:endParaRPr lang="en-US" sz="700" dirty="0"/>
          </a:p>
        </p:txBody>
      </p:sp>
      <p:sp>
        <p:nvSpPr>
          <p:cNvPr id="206" name="Node Label"/>
          <p:cNvSpPr/>
          <p:nvPr/>
        </p:nvSpPr>
        <p:spPr>
          <a:xfrm>
            <a:off x="3550000" y="2920000"/>
            <a:ext cx="13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207" name="Node Desc"/>
          <p:cNvSpPr/>
          <p:nvPr/>
        </p:nvSpPr>
        <p:spPr>
          <a:xfrm>
            <a:off x="3550000" y="318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kern="0" spc="-15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 REST endpoints for core resources</a:t>
            </a:r>
            <a:endParaRPr lang="en-US" sz="750" dirty="0"/>
          </a:p>
        </p:txBody>
      </p:sp>
      <p:cxnSp>
        <p:nvCxnSpPr>
          <p:cNvPr id="208" name="Connector"/>
          <p:cNvCxnSpPr/>
          <p:nvPr/>
        </p:nvCxnSpPr>
        <p:spPr>
          <a:xfrm flipV="1">
            <a:off x="4700000" y="2900000"/>
            <a:ext cx="395798" cy="50000"/>
          </a:xfrm>
          <a:prstGeom prst="line">
            <a:avLst/>
          </a:prstGeom>
          <a:ln w="12700">
            <a:solidFill>
              <a:srgbClr val="B9C4BA"/>
            </a:solidFill>
          </a:ln>
        </p:spPr>
      </p:cxnSp>
      <p:sp>
        <p:nvSpPr>
          <p:cNvPr id="209" name="Icon AI"/>
          <p:cNvSpPr/>
          <p:nvPr/>
        </p:nvSpPr>
        <p:spPr>
          <a:xfrm>
            <a:off x="7865798" y="2620000"/>
            <a:ext cx="260000" cy="260000"/>
          </a:xfrm>
          <a:prstGeom prst="ellipse">
            <a:avLst/>
          </a:prstGeom>
          <a:solidFill>
            <a:srgbClr val="2C5F2D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endParaRPr lang="en-US" sz="700" dirty="0"/>
          </a:p>
        </p:txBody>
      </p:sp>
      <p:sp>
        <p:nvSpPr>
          <p:cNvPr id="210" name="Node Label"/>
          <p:cNvSpPr/>
          <p:nvPr/>
        </p:nvSpPr>
        <p:spPr>
          <a:xfrm>
            <a:off x="7345798" y="2920000"/>
            <a:ext cx="13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&amp; Reasoning</a:t>
            </a:r>
            <a:endParaRPr lang="en-US" sz="1000" dirty="0"/>
          </a:p>
        </p:txBody>
      </p:sp>
      <p:sp>
        <p:nvSpPr>
          <p:cNvPr id="211" name="Node Desc"/>
          <p:cNvSpPr/>
          <p:nvPr/>
        </p:nvSpPr>
        <p:spPr>
          <a:xfrm>
            <a:off x="7345798" y="318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kern="0" spc="-15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AI service → IBM Bob reasoning layer</a:t>
            </a:r>
            <a:endParaRPr lang="en-US" sz="750" dirty="0"/>
          </a:p>
        </p:txBody>
      </p:sp>
      <p:cxnSp>
        <p:nvCxnSpPr>
          <p:cNvPr id="212" name="Connector"/>
          <p:cNvCxnSpPr/>
          <p:nvPr/>
        </p:nvCxnSpPr>
        <p:spPr>
          <a:xfrm>
            <a:off x="7095798" y="2900000"/>
            <a:ext cx="400000" cy="50000"/>
          </a:xfrm>
          <a:prstGeom prst="line">
            <a:avLst/>
          </a:prstGeom>
          <a:ln w="12700">
            <a:solidFill>
              <a:srgbClr val="B9C4BA"/>
            </a:solidFill>
          </a:ln>
        </p:spPr>
      </p:cxnSp>
      <p:sp>
        <p:nvSpPr>
          <p:cNvPr id="12" name="Text 9"/>
          <p:cNvSpPr/>
          <p:nvPr/>
        </p:nvSpPr>
        <p:spPr>
          <a:xfrm>
            <a:off x="661475" y="4566642"/>
            <a:ext cx="6957938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components include: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4990703"/>
            <a:ext cx="6348353" cy="12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endpoints for users, missions, tasks, submissions, analytics, leaderboards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Socket.io for real-time notifications &amp; leaderboard updates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Mock/in-memory DB for fast iteration during hackathon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48364" y="4583311"/>
            <a:ext cx="408810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service endpoints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48364" y="5026323"/>
            <a:ext cx="4088107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/personalize-learning</a:t>
            </a:r>
            <a:endParaRPr lang="en-US" sz="1350" dirty="0"/>
          </a:p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/verify-image</a:t>
            </a:r>
            <a:endParaRPr lang="en-US" sz="13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/class-insights/{class_id}</a:t>
            </a:r>
            <a:endParaRPr lang="en-US" sz="1350" dirty="0"/>
          </a:p>
        </p:txBody>
      </p:sp>
      <p:sp>
        <p:nvSpPr>
          <p:cNvPr id="99" name="Tech Stack Label"/>
          <p:cNvSpPr/>
          <p:nvPr/>
        </p:nvSpPr>
        <p:spPr>
          <a:xfrm>
            <a:off x="661475" y="3720000"/>
            <a:ext cx="3000000" cy="2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00" name="Tech Pill 0"/>
          <p:cNvSpPr/>
          <p:nvPr/>
        </p:nvSpPr>
        <p:spPr>
          <a:xfrm>
            <a:off x="661475" y="4050000"/>
            <a:ext cx="1080000" cy="33000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E7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01" name="Tech Pill 1"/>
          <p:cNvSpPr/>
          <p:nvPr/>
        </p:nvSpPr>
        <p:spPr>
          <a:xfrm>
            <a:off x="1891475" y="4050000"/>
            <a:ext cx="760000" cy="33000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E7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800" dirty="0"/>
          </a:p>
        </p:txBody>
      </p:sp>
      <p:sp>
        <p:nvSpPr>
          <p:cNvPr id="102" name="Tech Pill 2"/>
          <p:cNvSpPr/>
          <p:nvPr/>
        </p:nvSpPr>
        <p:spPr>
          <a:xfrm>
            <a:off x="2801475" y="4050000"/>
            <a:ext cx="68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</a:t>
            </a:r>
            <a:endParaRPr lang="en-US" sz="800" dirty="0"/>
          </a:p>
        </p:txBody>
      </p:sp>
      <p:sp>
        <p:nvSpPr>
          <p:cNvPr id="103" name="Tech Pill 3"/>
          <p:cNvSpPr/>
          <p:nvPr/>
        </p:nvSpPr>
        <p:spPr>
          <a:xfrm>
            <a:off x="3631475" y="4050000"/>
            <a:ext cx="60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Vite</a:t>
            </a:r>
            <a:endParaRPr lang="en-US" sz="800" dirty="0"/>
          </a:p>
        </p:txBody>
      </p:sp>
      <p:sp>
        <p:nvSpPr>
          <p:cNvPr id="104" name="Tech Pill 4"/>
          <p:cNvSpPr/>
          <p:nvPr/>
        </p:nvSpPr>
        <p:spPr>
          <a:xfrm>
            <a:off x="4381475" y="4050000"/>
            <a:ext cx="124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105" name="Tech Pill 5"/>
          <p:cNvSpPr/>
          <p:nvPr/>
        </p:nvSpPr>
        <p:spPr>
          <a:xfrm>
            <a:off x="5771475" y="4050000"/>
            <a:ext cx="108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Express.js</a:t>
            </a:r>
            <a:endParaRPr lang="en-US" sz="800" dirty="0"/>
          </a:p>
        </p:txBody>
      </p:sp>
      <p:sp>
        <p:nvSpPr>
          <p:cNvPr id="106" name="Tech Pill 6"/>
          <p:cNvSpPr/>
          <p:nvPr/>
        </p:nvSpPr>
        <p:spPr>
          <a:xfrm>
            <a:off x="7001475" y="4050000"/>
            <a:ext cx="840000" cy="330000"/>
          </a:xfrm>
          <a:prstGeom prst="roundRect">
            <a:avLst>
              <a:gd name="adj" fmla="val 50000"/>
            </a:avLst>
          </a:prstGeom>
          <a:solidFill>
            <a:srgbClr val="E7F1E8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1F4A2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endParaRPr lang="en-US" sz="800" dirty="0"/>
          </a:p>
        </p:txBody>
      </p:sp>
      <p:sp>
        <p:nvSpPr>
          <p:cNvPr id="107" name="Tech Pill 7"/>
          <p:cNvSpPr/>
          <p:nvPr/>
        </p:nvSpPr>
        <p:spPr>
          <a:xfrm>
            <a:off x="7991475" y="4050000"/>
            <a:ext cx="840000" cy="330000"/>
          </a:xfrm>
          <a:prstGeom prst="roundRect">
            <a:avLst>
              <a:gd name="adj" fmla="val 50000"/>
            </a:avLst>
          </a:prstGeom>
          <a:solidFill>
            <a:srgbClr val="EDE7F6"/>
          </a:solidFill>
          <a:ln w="0"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-10" dirty="0">
                <a:solidFill>
                  <a:srgbClr val="4B2E8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Bob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cxnSp>
        <p:nvCxnSpPr>
          <p:cNvPr id="970" name="LineTop"/>
          <p:cNvCxnSpPr/>
          <p:nvPr/>
        </p:nvCxnSpPr>
        <p:spPr>
          <a:xfrm>
            <a:off x="2285942" y="1878999"/>
            <a:ext cx="0" cy="155000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cxnSp>
        <p:nvCxnSpPr>
          <p:cNvPr id="971" name="LineRight"/>
          <p:cNvCxnSpPr/>
          <p:nvPr/>
        </p:nvCxnSpPr>
        <p:spPr>
          <a:xfrm>
            <a:off x="2285942" y="3428999"/>
            <a:ext cx="1550000" cy="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cxnSp>
        <p:nvCxnSpPr>
          <p:cNvPr id="972" name="LineBottom"/>
          <p:cNvCxnSpPr/>
          <p:nvPr/>
        </p:nvCxnSpPr>
        <p:spPr>
          <a:xfrm>
            <a:off x="2285942" y="3428999"/>
            <a:ext cx="0" cy="155000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cxnSp>
        <p:nvCxnSpPr>
          <p:cNvPr id="973" name="LineLeft"/>
          <p:cNvCxnSpPr/>
          <p:nvPr/>
        </p:nvCxnSpPr>
        <p:spPr>
          <a:xfrm>
            <a:off x="735942" y="3428999"/>
            <a:ext cx="1550000" cy="0"/>
          </a:xfrm>
          <a:prstGeom prst="line">
            <a:avLst/>
          </a:prstGeom>
          <a:ln w="19050">
            <a:solidFill>
              <a:srgbClr val="C0C1D7"/>
            </a:solidFill>
          </a:ln>
        </p:spPr>
      </p:cxnSp>
      <p:sp>
        <p:nvSpPr>
          <p:cNvPr id="974" name="CoreCircle"/>
          <p:cNvSpPr/>
          <p:nvPr/>
        </p:nvSpPr>
        <p:spPr>
          <a:xfrm>
            <a:off x="1535942" y="2678999"/>
            <a:ext cx="1500000" cy="150000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</p:sp>
      <p:sp>
        <p:nvSpPr>
          <p:cNvPr id="975" name="CoreText"/>
          <p:cNvSpPr/>
          <p:nvPr/>
        </p:nvSpPr>
        <p:spPr>
          <a:xfrm>
            <a:off x="1535942" y="2678999"/>
            <a:ext cx="15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Bob</a:t>
            </a:r>
          </a:p>
        </p:txBody>
      </p:sp>
      <p:sp>
        <p:nvSpPr>
          <p:cNvPr id="976" name="SatTop"/>
          <p:cNvSpPr/>
          <p:nvPr/>
        </p:nvSpPr>
        <p:spPr>
          <a:xfrm>
            <a:off x="1785942" y="137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77" name="SatTextTop"/>
          <p:cNvSpPr/>
          <p:nvPr/>
        </p:nvSpPr>
        <p:spPr>
          <a:xfrm>
            <a:off x="1785942" y="137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</a:t>
            </a:r>
          </a:p>
        </p:txBody>
      </p:sp>
      <p:sp>
        <p:nvSpPr>
          <p:cNvPr id="978" name="SatRight"/>
          <p:cNvSpPr/>
          <p:nvPr/>
        </p:nvSpPr>
        <p:spPr>
          <a:xfrm>
            <a:off x="3335942" y="292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79" name="SatTextRight"/>
          <p:cNvSpPr/>
          <p:nvPr/>
        </p:nvSpPr>
        <p:spPr>
          <a:xfrm>
            <a:off x="3335942" y="292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</a:t>
            </a:r>
          </a:p>
        </p:txBody>
      </p:sp>
      <p:sp>
        <p:nvSpPr>
          <p:cNvPr id="980" name="SatBottom"/>
          <p:cNvSpPr/>
          <p:nvPr/>
        </p:nvSpPr>
        <p:spPr>
          <a:xfrm>
            <a:off x="1785942" y="447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81" name="SatTextBottom"/>
          <p:cNvSpPr/>
          <p:nvPr/>
        </p:nvSpPr>
        <p:spPr>
          <a:xfrm>
            <a:off x="1785942" y="447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</a:t>
            </a:r>
          </a:p>
        </p:txBody>
      </p:sp>
      <p:sp>
        <p:nvSpPr>
          <p:cNvPr id="982" name="SatLeft"/>
          <p:cNvSpPr/>
          <p:nvPr/>
        </p:nvSpPr>
        <p:spPr>
          <a:xfrm>
            <a:off x="235942" y="2928999"/>
            <a:ext cx="1000000" cy="1000000"/>
          </a:xfrm>
          <a:prstGeom prst="ellipse">
            <a:avLst/>
          </a:prstGeom>
          <a:solidFill>
            <a:srgbClr val="DADBF1"/>
          </a:solidFill>
          <a:ln w="19050">
            <a:solidFill>
              <a:srgbClr val="C0C1D7"/>
            </a:solidFill>
          </a:ln>
        </p:spPr>
      </p:sp>
      <p:sp>
        <p:nvSpPr>
          <p:cNvPr id="983" name="SatTextLeft"/>
          <p:cNvSpPr/>
          <p:nvPr/>
        </p:nvSpPr>
        <p:spPr>
          <a:xfrm>
            <a:off x="235942" y="2928999"/>
            <a:ext cx="1000000" cy="1000000"/>
          </a:xfrm>
          <a:prstGeom prst="rect">
            <a:avLst/>
          </a:prstGeom>
          <a:noFill/>
          <a:ln/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</a:p>
        </p:txBody>
      </p:sp>
      <p:sp>
        <p:nvSpPr>
          <p:cNvPr id="4" name="Text 0"/>
          <p:cNvSpPr/>
          <p:nvPr/>
        </p:nvSpPr>
        <p:spPr>
          <a:xfrm>
            <a:off x="5233360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Technologies — The Bob Reasoner</a:t>
            </a:r>
            <a:endParaRPr lang="en-US" sz="35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0806" y="2421830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6151012" y="2117030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Personalized learning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6151012" y="2501503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topic scores, completed lessons, mission activity to recommend next topics and missions with traceable reasoning.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80806" y="3951883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5"/>
          <p:cNvSpPr/>
          <p:nvPr/>
        </p:nvSpPr>
        <p:spPr>
          <a:xfrm>
            <a:off x="6151012" y="3647083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Mission verification explanation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51012" y="4031555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verification for evidence + Bob-generated student/teacher explanations for clarity and audit logs.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0806" y="5481935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6151012" y="5177135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Teacher insights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6151012" y="5561608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class analytics into prioritized, actionable recommendations for remediation and enrichment.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50355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Impact, Limitations &amp; Team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32930"/>
            <a:ext cx="63483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975941"/>
            <a:ext cx="6348353" cy="154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Boosts engagement — turns passive learning into verified action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sustainable habits through short missions and streaks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teachers identify and remediate weak topics (e.g., water conservation)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schools/organizers to run measurable green competitions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475" y="3754636"/>
            <a:ext cx="6348353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004766"/>
            <a:ext cx="63483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1475" y="4447778"/>
            <a:ext cx="6348353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Gamification alone doesn't guarantee long-term behavior change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 features are limited in the prototype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environmental priorities vary — content localization required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Large-scale ERP/LMS integration will be needed for broad adoption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03893" y="1561126"/>
            <a:ext cx="408810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4Bugs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2410" y="1494185"/>
            <a:ext cx="354401" cy="35440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03893" y="2004046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Hima Mehta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103893" y="2280966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Kairavi Padhariya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103892" y="2557816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Akshara Pandya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103891" y="2822851"/>
            <a:ext cx="352604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Chandni Kothari</a:t>
            </a:r>
            <a:endParaRPr lang="en-US" sz="1700" dirty="0"/>
          </a:p>
        </p:txBody>
      </p:sp>
      <p:sp>
        <p:nvSpPr>
          <p:cNvPr id="20" name="Shape 4"/>
          <p:cNvSpPr/>
          <p:nvPr/>
        </p:nvSpPr>
        <p:spPr>
          <a:xfrm>
            <a:off x="7700324" y="3762433"/>
            <a:ext cx="4088107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7769610" y="3946116"/>
            <a:ext cx="408810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7592410" y="4467806"/>
            <a:ext cx="4088107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 mode to support low-connectivity schools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language support and localized content for wider reach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ERP/LMS integration to enable large-scale institutional adoption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572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Akshara Pandya</cp:lastModifiedBy>
  <cp:revision>4</cp:revision>
  <dcterms:created xsi:type="dcterms:W3CDTF">2026-09-15T09:05:59Z</dcterms:created>
  <dcterms:modified xsi:type="dcterms:W3CDTF">2026-09-19T08:55:05Z</dcterms:modified>
</cp:coreProperties>
</file>